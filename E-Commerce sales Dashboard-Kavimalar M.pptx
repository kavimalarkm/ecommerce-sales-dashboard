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1"/>
  </p:notesMasterIdLst>
  <p:handoutMasterIdLst>
    <p:handoutMasterId r:id="rId22"/>
  </p:handoutMasterIdLst>
  <p:sldIdLst>
    <p:sldId id="312" r:id="rId5"/>
    <p:sldId id="304" r:id="rId6"/>
    <p:sldId id="282" r:id="rId7"/>
    <p:sldId id="314" r:id="rId8"/>
    <p:sldId id="323" r:id="rId9"/>
    <p:sldId id="324" r:id="rId10"/>
    <p:sldId id="319" r:id="rId11"/>
    <p:sldId id="321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297" r:id="rId2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64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CB373-A67A-2BB8-626E-D143DE531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F08F3F-5A1B-E2DF-C228-BB66FBCDE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AA25C-740D-F6AD-5531-93007D268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528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8E99-C51B-93D5-7825-5A3D06ABA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72A37-ABD8-27CF-21B8-9AF229134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949D1-A29B-ED33-B8E7-61345A4FC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693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D7E56-93A7-89C1-9B78-90F613D2A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706B4-C34E-0B87-D6D9-268D7F12F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7E86F-D23E-E525-8FE9-96C015559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575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D6189-0532-BBA6-B08A-F5B126FB0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DE00C-A1FE-8100-BCF5-B1C6FE6C9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3E614-F429-7859-151F-4CB505D91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705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5F06F-6BD5-F615-2FF5-80B3EF5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BD8D0-7C8A-35A4-EF60-3F0E679C4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EE657-FCED-BF77-CC63-F798BAB64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392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B8C5-8E90-BA68-1CA8-DAD5CB8E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3D151-9FA7-3305-B05A-3F8970573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6A193-6630-810F-BE28-CA4D706FF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72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74904-40CD-FE86-7520-DF933481A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603EF-6E71-8BD6-4E36-8F7A83B4D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6A9D0-9117-5D5D-6362-3FFF2681D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6567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84604-3F9E-4356-A55C-FD67B718D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65671-B944-B545-6B1B-D2412D3A3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083B8-D63A-FCD6-C1B0-635DB8154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59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CC5A6-16BE-36E5-4CA8-CD64DF1C0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2B414-8B4A-455F-14C1-4AFB9AA20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4B0E0-88BB-493C-C1DD-E452453AF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06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E-Commerce sales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B8AF8-9445-8338-9D68-8A98CD8B12D2}"/>
              </a:ext>
            </a:extLst>
          </p:cNvPr>
          <p:cNvSpPr txBox="1"/>
          <p:nvPr/>
        </p:nvSpPr>
        <p:spPr>
          <a:xfrm>
            <a:off x="5137354" y="3795563"/>
            <a:ext cx="1917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By:</a:t>
            </a:r>
          </a:p>
          <a:p>
            <a:r>
              <a:rPr lang="en-GB" dirty="0"/>
              <a:t>Kavimalar 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This project presents an </a:t>
            </a:r>
            <a:r>
              <a:rPr lang="en-GB" b="1" dirty="0"/>
              <a:t>E-Commerce Sales Dashboard</a:t>
            </a:r>
            <a:r>
              <a:rPr lang="en-GB" dirty="0"/>
              <a:t> created using</a:t>
            </a:r>
            <a:br>
              <a:rPr lang="en-GB" dirty="0"/>
            </a:br>
            <a:r>
              <a:rPr lang="en-GB" dirty="0"/>
              <a:t>Microsoft Power BI.</a:t>
            </a:r>
          </a:p>
          <a:p>
            <a:r>
              <a:rPr lang="en-GB" dirty="0"/>
              <a:t>The dashboard helps to </a:t>
            </a:r>
            <a:r>
              <a:rPr lang="en-GB" dirty="0" err="1"/>
              <a:t>analyze</a:t>
            </a:r>
            <a:r>
              <a:rPr lang="en-GB" dirty="0"/>
              <a:t> large-scale sales data and converts it into meaningful insights using interactive visualizations. It enables better understanding of business performance and supports data-driven decision 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E25706-8D53-9F2F-E61D-99963C45A75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60750" y="2944099"/>
            <a:ext cx="532934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000" dirty="0"/>
              <a:t>This</a:t>
            </a:r>
            <a:r>
              <a:rPr lang="en-US" altLang="en-US" sz="2000" dirty="0"/>
              <a:t>To analyze overall sales performance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To track revenue, orders, and customer data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To identify top-performing states and products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To understand customer purchasing behavior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To analyze payment methods and order status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To support business decision-making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473241"/>
            <a:ext cx="7043617" cy="1636396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6" y="2521902"/>
            <a:ext cx="7201551" cy="3477845"/>
          </a:xfrm>
        </p:spPr>
        <p:txBody>
          <a:bodyPr>
            <a:normAutofit/>
          </a:bodyPr>
          <a:lstStyle/>
          <a:p>
            <a:r>
              <a:rPr lang="en-GB" sz="2000" dirty="0"/>
              <a:t>The dataset used is</a:t>
            </a:r>
            <a:br>
              <a:rPr lang="en-GB" sz="2000" dirty="0"/>
            </a:br>
            <a:r>
              <a:rPr lang="en-GB" sz="2000" dirty="0"/>
              <a:t>Brazilian E-Commerce Public Dataset by </a:t>
            </a:r>
            <a:r>
              <a:rPr lang="en-GB" sz="2000" dirty="0" err="1"/>
              <a:t>Olist</a:t>
            </a:r>
            <a:r>
              <a:rPr lang="en-GB" sz="2000" dirty="0"/>
              <a:t>.</a:t>
            </a:r>
          </a:p>
          <a:p>
            <a:r>
              <a:rPr lang="en-GB" sz="2000" dirty="0"/>
              <a:t>It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Customer details (ID, state, city)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Order details (order ID, purchase date, status)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Product details (product ID, category)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Payment details (payment type, payment value)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Order items (price, freight value)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9C6B-1B90-0DCC-8107-F52136CB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DE531-E741-5242-558D-323B61CFB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Tools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7665F11-EA59-6609-CB0D-5869789B092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60750" y="2997084"/>
            <a:ext cx="440223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Excel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→ Data cleaning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Power BI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→ Dashboard creation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Power 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→ Data transformation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DAX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→ Calculations and KPIs</a:t>
            </a:r>
          </a:p>
        </p:txBody>
      </p:sp>
    </p:spTree>
    <p:extLst>
      <p:ext uri="{BB962C8B-B14F-4D97-AF65-F5344CB8AC3E}">
        <p14:creationId xmlns:p14="http://schemas.microsoft.com/office/powerpoint/2010/main" val="160281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2C875-6375-B8FF-4B7C-34969CA2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9593-F283-7253-1B89-CCE7E46E5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07" y="420687"/>
            <a:ext cx="6986694" cy="1160993"/>
          </a:xfrm>
        </p:spPr>
        <p:txBody>
          <a:bodyPr/>
          <a:lstStyle/>
          <a:p>
            <a:r>
              <a:rPr lang="en-IN" dirty="0"/>
              <a:t>KPI CARDS EXPLANATION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F82FF-8CDF-9EF3-9E31-2B8F0AADD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14" y="2116885"/>
            <a:ext cx="6583680" cy="3207344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dashboard includes key performance indicators: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Total Revenue (13.59M)</a:t>
            </a:r>
            <a:r>
              <a:rPr lang="en-GB" dirty="0"/>
              <a:t> → Total income generated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Total Orders (98.67K)</a:t>
            </a:r>
            <a:r>
              <a:rPr lang="en-GB" dirty="0"/>
              <a:t> → Total number of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Total Customers (96.10K)</a:t>
            </a:r>
            <a:r>
              <a:rPr lang="en-GB" dirty="0"/>
              <a:t> → Unique customers 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Total Categories (74)</a:t>
            </a:r>
            <a:r>
              <a:rPr lang="en-GB" dirty="0"/>
              <a:t> → Number of product categories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These KPIs provide a quick overview of business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40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Sales trend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8826" y="2331958"/>
            <a:ext cx="4658748" cy="370426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line chart shows </a:t>
            </a:r>
            <a:r>
              <a:rPr lang="en-GB" sz="2000" b="1" dirty="0"/>
              <a:t>sales trend over time</a:t>
            </a:r>
            <a:r>
              <a:rPr lang="en-GB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Sales increased gradually during 2017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 peak is observed around early 2018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Fluctuations indicate seasonal demand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 Helps in identifying growth periods and planning strategies.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3CBC815-6E49-1956-C2E3-2F56CA06FE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027703" y="2331959"/>
            <a:ext cx="4876271" cy="269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IN" dirty="0"/>
              <a:t>ORDER STATUS ANALYSIS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GB" sz="2000" dirty="0"/>
              <a:t>The donut chart represents order distribution:</a:t>
            </a:r>
          </a:p>
          <a:p>
            <a:r>
              <a:rPr lang="en-GB" sz="2000" dirty="0"/>
              <a:t>Majority of orders are </a:t>
            </a:r>
            <a:r>
              <a:rPr lang="en-GB" sz="2000" b="1" dirty="0"/>
              <a:t>Delivered (~97%)</a:t>
            </a:r>
            <a:endParaRPr lang="en-GB" sz="2000" dirty="0"/>
          </a:p>
          <a:p>
            <a:r>
              <a:rPr lang="en-GB" sz="2000" dirty="0"/>
              <a:t>Very few orders are cancelled or unavailable</a:t>
            </a:r>
          </a:p>
          <a:p>
            <a:r>
              <a:rPr lang="en-GB" sz="2000" dirty="0"/>
              <a:t> Indicates strong operational efficiency.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70A4B5-A8A9-5D3D-D79B-D33E39F93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210" y="2303028"/>
            <a:ext cx="3285845" cy="233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DC2BF-10C2-CBCF-ED2E-F1B396BB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7C9A-868D-20FB-8369-86F36B2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07" y="420687"/>
            <a:ext cx="6986694" cy="1160993"/>
          </a:xfrm>
        </p:spPr>
        <p:txBody>
          <a:bodyPr/>
          <a:lstStyle/>
          <a:p>
            <a:r>
              <a:rPr lang="en-US" dirty="0"/>
              <a:t>Sales by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9FA80-3B4C-7C54-B0BC-C28A82739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14" y="1753092"/>
            <a:ext cx="6583680" cy="320734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bar chart shows revenue by customer state: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SP (São Paulo)</a:t>
            </a:r>
            <a:r>
              <a:rPr lang="en-GB" sz="2000" dirty="0"/>
              <a:t> has highest sales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Followed by RJ and MG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Other states contribute less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Helps in regional performance analysis.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78718-2F21-D481-ED31-2571A119F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4128C9-90F7-DD0A-8920-AECF423F1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10" y="4285954"/>
            <a:ext cx="3767267" cy="202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14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65BA-CCFB-E82B-5ACE-32A0A0011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3FB60E-BBE4-0BAA-09AB-5A5E34D45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IN" dirty="0"/>
              <a:t>TOP PRODUCTS ANALYSIS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68D2D-B121-6AF1-B7E4-B53F85D38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1214" y="2361801"/>
            <a:ext cx="3766955" cy="370426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chart shows </a:t>
            </a:r>
            <a:r>
              <a:rPr lang="en-GB" sz="2000" b="1" dirty="0"/>
              <a:t>top-performing products by revenue</a:t>
            </a:r>
            <a:r>
              <a:rPr lang="en-GB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Few products contribute major revenue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Identifies high-demand items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 Useful for inventory and marketing focus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924542-B2B5-A7ED-B4C4-BF50D9A09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173" y="2491665"/>
            <a:ext cx="3909058" cy="299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37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6C0E-F255-F979-B3CE-D6B2B57C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EACB4-3686-D29C-CAA6-FC4ACAB46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475" y="430362"/>
            <a:ext cx="7043617" cy="839637"/>
          </a:xfrm>
        </p:spPr>
        <p:txBody>
          <a:bodyPr/>
          <a:lstStyle/>
          <a:p>
            <a:r>
              <a:rPr lang="en-IN" dirty="0"/>
              <a:t>PAYMENT ANALYSIS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32FCA-8B01-22B8-FAF8-494890D0645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24476" y="1496854"/>
            <a:ext cx="7201551" cy="205009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pie chart shows payment distribution: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Credit card (~78%)</a:t>
            </a:r>
            <a:r>
              <a:rPr lang="en-GB" sz="2000" dirty="0"/>
              <a:t> is most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/>
              <a:t>Boleto</a:t>
            </a:r>
            <a:r>
              <a:rPr lang="en-GB" sz="2000" dirty="0"/>
              <a:t> is second highest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Other methods are minimal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Helps understand customer payment preferences.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667974-EE5D-FEBE-B922-96A94AADE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467" y="3546952"/>
            <a:ext cx="3621171" cy="265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75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15989-A8B2-ED70-FB4D-CF5BA242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6E9BDC-A84A-4700-E501-C2B79459D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IN" dirty="0"/>
              <a:t>FILTERS &amp; INTERACTIVITY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4A0338E-B680-3E9D-E403-E4474D9E3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2201239"/>
          </a:xfrm>
        </p:spPr>
        <p:txBody>
          <a:bodyPr>
            <a:normAutofit/>
          </a:bodyPr>
          <a:lstStyle/>
          <a:p>
            <a:r>
              <a:rPr lang="en-GB" sz="2000" dirty="0"/>
              <a:t>The dashboard includes filters:</a:t>
            </a:r>
          </a:p>
          <a:p>
            <a:r>
              <a:rPr lang="en-GB" sz="2000" dirty="0"/>
              <a:t>Date range filter</a:t>
            </a:r>
          </a:p>
          <a:p>
            <a:r>
              <a:rPr lang="en-GB" sz="2000" dirty="0"/>
              <a:t>State filter</a:t>
            </a:r>
          </a:p>
          <a:p>
            <a:r>
              <a:rPr lang="en-GB" sz="2000" dirty="0"/>
              <a:t>Product category filter</a:t>
            </a:r>
          </a:p>
          <a:p>
            <a:pPr marL="0" indent="0">
              <a:buNone/>
            </a:pPr>
            <a:r>
              <a:rPr lang="en-GB" sz="2000" dirty="0"/>
              <a:t> Users can interact and explore data dynamically.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9F57E1-2F6A-04E6-9D4D-6060CA984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256" y="1479812"/>
            <a:ext cx="2686138" cy="473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59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97D83-889A-17CF-D553-120F1E944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5971-AD9E-E14E-7414-5BE446319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07" y="420687"/>
            <a:ext cx="6986694" cy="1160993"/>
          </a:xfrm>
        </p:spPr>
        <p:txBody>
          <a:bodyPr/>
          <a:lstStyle/>
          <a:p>
            <a:r>
              <a:rPr lang="en-IN" dirty="0"/>
              <a:t>Key insights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BDA67-F346-39E8-CE42-46ACD97B3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34143A8-1F80-254F-E8D8-5A92273782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7754" y="2624921"/>
            <a:ext cx="546673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Majority of revenue comes from few states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Most orders are successfully delivered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Credit card is dominant payment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Sales show seasonal fluctuations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Certain products drive major revenue</a:t>
            </a:r>
          </a:p>
        </p:txBody>
      </p:sp>
    </p:spTree>
    <p:extLst>
      <p:ext uri="{BB962C8B-B14F-4D97-AF65-F5344CB8AC3E}">
        <p14:creationId xmlns:p14="http://schemas.microsoft.com/office/powerpoint/2010/main" val="2633973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0095-2E22-C0EA-EA84-B50EDAF3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7068-1D11-55E2-6A23-940D7773A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79F659D-4336-FD18-7C8B-43CF55E37F9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342218" y="2719427"/>
            <a:ext cx="8324850" cy="2887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dirty="0"/>
              <a:t>The dashboard provides a clear view of business performance by combining multiple data sources.</a:t>
            </a:r>
          </a:p>
          <a:p>
            <a:r>
              <a:rPr lang="en-GB" sz="2000" dirty="0"/>
              <a:t>It helps businesses:</a:t>
            </a:r>
          </a:p>
          <a:p>
            <a:r>
              <a:rPr lang="en-GB" sz="2000" dirty="0"/>
              <a:t>Understand sales trends</a:t>
            </a:r>
          </a:p>
          <a:p>
            <a:r>
              <a:rPr lang="en-GB" sz="2000" dirty="0"/>
              <a:t>Improve customer targeting</a:t>
            </a:r>
          </a:p>
          <a:p>
            <a:r>
              <a:rPr lang="en-GB" sz="2000" dirty="0"/>
              <a:t>Optimize product strategy</a:t>
            </a:r>
          </a:p>
          <a:p>
            <a:r>
              <a:rPr lang="en-GB" sz="2000" dirty="0"/>
              <a:t>Make informed decisions</a:t>
            </a:r>
          </a:p>
        </p:txBody>
      </p:sp>
    </p:spTree>
    <p:extLst>
      <p:ext uri="{BB962C8B-B14F-4D97-AF65-F5344CB8AC3E}">
        <p14:creationId xmlns:p14="http://schemas.microsoft.com/office/powerpoint/2010/main" val="490242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F718D-1D10-3ED2-C238-37528E49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0079-07DB-0883-BA20-889DA19D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926" y="152706"/>
            <a:ext cx="7965461" cy="994164"/>
          </a:xfrm>
        </p:spPr>
        <p:txBody>
          <a:bodyPr/>
          <a:lstStyle/>
          <a:p>
            <a:r>
              <a:rPr lang="en-US" dirty="0"/>
              <a:t>Dashboard(output)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9E1232-09A1-8811-1A31-1F9A325E2A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204925" y="1394052"/>
            <a:ext cx="8373327" cy="425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42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735" y="14085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{22E18ACB-DB78-446C-AA6A-20A925A4BD32}TF8a9b5915-b8c7-461e-8cdd-693d48b5e32371f7b7e2_win32-4bf0b9a2ea37</Template>
  <TotalTime>39</TotalTime>
  <Words>491</Words>
  <Application>Microsoft Office PowerPoint</Application>
  <PresentationFormat>Widescreen</PresentationFormat>
  <Paragraphs>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Sabon Next LT</vt:lpstr>
      <vt:lpstr>Custom</vt:lpstr>
      <vt:lpstr>E-Commerce sales Dashboard</vt:lpstr>
      <vt:lpstr>Introduction</vt:lpstr>
      <vt:lpstr>Objective</vt:lpstr>
      <vt:lpstr>Selecting  visual aids</vt:lpstr>
      <vt:lpstr>Tools used</vt:lpstr>
      <vt:lpstr>KPI CARDS EXPLANATION</vt:lpstr>
      <vt:lpstr>Sales trend analysis</vt:lpstr>
      <vt:lpstr>ORDER STATUS ANALYSIS</vt:lpstr>
      <vt:lpstr>Sales by state</vt:lpstr>
      <vt:lpstr>TOP PRODUCTS ANALYSIS</vt:lpstr>
      <vt:lpstr>PAYMENT ANALYSIS</vt:lpstr>
      <vt:lpstr>FILTERS &amp; INTERACTIVITY</vt:lpstr>
      <vt:lpstr>Key insights</vt:lpstr>
      <vt:lpstr>conclusion</vt:lpstr>
      <vt:lpstr>Dashboard(output)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kavimalar KM</dc:creator>
  <cp:lastModifiedBy>kavimalar KM</cp:lastModifiedBy>
  <cp:revision>2</cp:revision>
  <dcterms:created xsi:type="dcterms:W3CDTF">2026-03-19T15:57:34Z</dcterms:created>
  <dcterms:modified xsi:type="dcterms:W3CDTF">2026-03-19T16:36:42Z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